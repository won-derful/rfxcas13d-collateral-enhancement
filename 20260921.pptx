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72EF43-734E-4F25-871D-807E4F9F2D09}" v="2" dt="2026-09-21T05:12:32.7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100" d="100"/>
          <a:sy n="100" d="100"/>
        </p:scale>
        <p:origin x="600" y="31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红峰 王" userId="8007e7a727d8f4b4" providerId="LiveId" clId="{DE34638D-08ED-4C43-BF95-EAE9BB525ABC}"/>
    <pc:docChg chg="undo custSel addSld delSld modSld sldOrd">
      <pc:chgData name="红峰 王" userId="8007e7a727d8f4b4" providerId="LiveId" clId="{DE34638D-08ED-4C43-BF95-EAE9BB525ABC}" dt="2026-09-21T05:20:57.070" v="137" actId="14100"/>
      <pc:docMkLst>
        <pc:docMk/>
      </pc:docMkLst>
      <pc:sldChg chg="addSp delSp modSp new mod ord">
        <pc:chgData name="红峰 王" userId="8007e7a727d8f4b4" providerId="LiveId" clId="{DE34638D-08ED-4C43-BF95-EAE9BB525ABC}" dt="2026-09-21T05:14:51.588" v="130" actId="1076"/>
        <pc:sldMkLst>
          <pc:docMk/>
          <pc:sldMk cId="3225917873" sldId="256"/>
        </pc:sldMkLst>
        <pc:spChg chg="del">
          <ac:chgData name="红峰 王" userId="8007e7a727d8f4b4" providerId="LiveId" clId="{DE34638D-08ED-4C43-BF95-EAE9BB525ABC}" dt="2026-09-21T04:10:37.439" v="1" actId="478"/>
          <ac:spMkLst>
            <pc:docMk/>
            <pc:sldMk cId="3225917873" sldId="256"/>
            <ac:spMk id="2" creationId="{7E79101A-1929-AB02-4B68-B2A1C1B802F1}"/>
          </ac:spMkLst>
        </pc:spChg>
        <pc:spChg chg="del">
          <ac:chgData name="红峰 王" userId="8007e7a727d8f4b4" providerId="LiveId" clId="{DE34638D-08ED-4C43-BF95-EAE9BB525ABC}" dt="2026-09-21T04:10:37.439" v="1" actId="478"/>
          <ac:spMkLst>
            <pc:docMk/>
            <pc:sldMk cId="3225917873" sldId="256"/>
            <ac:spMk id="3" creationId="{2BD69FEB-A580-2C23-432D-F825EA54B0D5}"/>
          </ac:spMkLst>
        </pc:spChg>
        <pc:spChg chg="add mod">
          <ac:chgData name="红峰 王" userId="8007e7a727d8f4b4" providerId="LiveId" clId="{DE34638D-08ED-4C43-BF95-EAE9BB525ABC}" dt="2026-09-21T05:14:51.588" v="130" actId="1076"/>
          <ac:spMkLst>
            <pc:docMk/>
            <pc:sldMk cId="3225917873" sldId="256"/>
            <ac:spMk id="5" creationId="{1919FBB5-BF0F-B83A-FF21-7AED3F08B311}"/>
          </ac:spMkLst>
        </pc:spChg>
      </pc:sldChg>
      <pc:sldChg chg="new del ord">
        <pc:chgData name="红峰 王" userId="8007e7a727d8f4b4" providerId="LiveId" clId="{DE34638D-08ED-4C43-BF95-EAE9BB525ABC}" dt="2026-09-21T04:56:27.673" v="72" actId="47"/>
        <pc:sldMkLst>
          <pc:docMk/>
          <pc:sldMk cId="2331471599" sldId="257"/>
        </pc:sldMkLst>
      </pc:sldChg>
      <pc:sldChg chg="new del">
        <pc:chgData name="红峰 王" userId="8007e7a727d8f4b4" providerId="LiveId" clId="{DE34638D-08ED-4C43-BF95-EAE9BB525ABC}" dt="2026-09-21T04:56:27.673" v="72" actId="47"/>
        <pc:sldMkLst>
          <pc:docMk/>
          <pc:sldMk cId="2267500846" sldId="258"/>
        </pc:sldMkLst>
      </pc:sldChg>
      <pc:sldChg chg="addSp delSp modSp new mod ord">
        <pc:chgData name="红峰 王" userId="8007e7a727d8f4b4" providerId="LiveId" clId="{DE34638D-08ED-4C43-BF95-EAE9BB525ABC}" dt="2026-09-21T04:21:50.801" v="36" actId="1076"/>
        <pc:sldMkLst>
          <pc:docMk/>
          <pc:sldMk cId="3943806512" sldId="259"/>
        </pc:sldMkLst>
        <pc:spChg chg="add del mod">
          <ac:chgData name="红峰 王" userId="8007e7a727d8f4b4" providerId="LiveId" clId="{DE34638D-08ED-4C43-BF95-EAE9BB525ABC}" dt="2026-09-21T04:20:16.877" v="19" actId="22"/>
          <ac:spMkLst>
            <pc:docMk/>
            <pc:sldMk cId="3943806512" sldId="259"/>
            <ac:spMk id="3" creationId="{8EE47E9E-EEAB-C319-11C4-8B13E6ADA4C9}"/>
          </ac:spMkLst>
        </pc:spChg>
        <pc:spChg chg="add del mod">
          <ac:chgData name="红峰 王" userId="8007e7a727d8f4b4" providerId="LiveId" clId="{DE34638D-08ED-4C43-BF95-EAE9BB525ABC}" dt="2026-09-21T04:20:16.877" v="19" actId="22"/>
          <ac:spMkLst>
            <pc:docMk/>
            <pc:sldMk cId="3943806512" sldId="259"/>
            <ac:spMk id="7" creationId="{A6F4EB4A-EC45-7504-F1BE-936682D4657B}"/>
          </ac:spMkLst>
        </pc:spChg>
        <pc:spChg chg="add del mod">
          <ac:chgData name="红峰 王" userId="8007e7a727d8f4b4" providerId="LiveId" clId="{DE34638D-08ED-4C43-BF95-EAE9BB525ABC}" dt="2026-09-21T04:20:16.877" v="19" actId="22"/>
          <ac:spMkLst>
            <pc:docMk/>
            <pc:sldMk cId="3943806512" sldId="259"/>
            <ac:spMk id="9" creationId="{B60AA3B5-3542-3E00-DA17-BBE58F4816FA}"/>
          </ac:spMkLst>
        </pc:spChg>
        <pc:spChg chg="add del mod">
          <ac:chgData name="红峰 王" userId="8007e7a727d8f4b4" providerId="LiveId" clId="{DE34638D-08ED-4C43-BF95-EAE9BB525ABC}" dt="2026-09-21T04:20:16.877" v="19" actId="22"/>
          <ac:spMkLst>
            <pc:docMk/>
            <pc:sldMk cId="3943806512" sldId="259"/>
            <ac:spMk id="11" creationId="{A759FCC9-D2D3-7DCF-D6BC-928DE6741A8C}"/>
          </ac:spMkLst>
        </pc:spChg>
        <pc:spChg chg="add del mod">
          <ac:chgData name="红峰 王" userId="8007e7a727d8f4b4" providerId="LiveId" clId="{DE34638D-08ED-4C43-BF95-EAE9BB525ABC}" dt="2026-09-21T04:20:16.877" v="19" actId="22"/>
          <ac:spMkLst>
            <pc:docMk/>
            <pc:sldMk cId="3943806512" sldId="259"/>
            <ac:spMk id="13" creationId="{5577D02C-E4FF-C718-EE3D-931CEDC67C5D}"/>
          </ac:spMkLst>
        </pc:spChg>
        <pc:spChg chg="add del mod">
          <ac:chgData name="红峰 王" userId="8007e7a727d8f4b4" providerId="LiveId" clId="{DE34638D-08ED-4C43-BF95-EAE9BB525ABC}" dt="2026-09-21T04:20:16.877" v="19" actId="22"/>
          <ac:spMkLst>
            <pc:docMk/>
            <pc:sldMk cId="3943806512" sldId="259"/>
            <ac:spMk id="15" creationId="{C52706C4-0AFF-8C29-154C-344EAA5F35F2}"/>
          </ac:spMkLst>
        </pc:spChg>
        <pc:spChg chg="add del mod">
          <ac:chgData name="红峰 王" userId="8007e7a727d8f4b4" providerId="LiveId" clId="{DE34638D-08ED-4C43-BF95-EAE9BB525ABC}" dt="2026-09-21T04:20:16.877" v="19" actId="22"/>
          <ac:spMkLst>
            <pc:docMk/>
            <pc:sldMk cId="3943806512" sldId="259"/>
            <ac:spMk id="17" creationId="{E204695A-C489-EC1B-56A8-350123FD3AF6}"/>
          </ac:spMkLst>
        </pc:spChg>
        <pc:spChg chg="add mod">
          <ac:chgData name="红峰 王" userId="8007e7a727d8f4b4" providerId="LiveId" clId="{DE34638D-08ED-4C43-BF95-EAE9BB525ABC}" dt="2026-09-21T04:21:02.891" v="27" actId="139"/>
          <ac:spMkLst>
            <pc:docMk/>
            <pc:sldMk cId="3943806512" sldId="259"/>
            <ac:spMk id="19" creationId="{80D5AAC7-CEC7-9274-0256-6F04E7FD1E99}"/>
          </ac:spMkLst>
        </pc:spChg>
        <pc:spChg chg="add mod">
          <ac:chgData name="红峰 王" userId="8007e7a727d8f4b4" providerId="LiveId" clId="{DE34638D-08ED-4C43-BF95-EAE9BB525ABC}" dt="2026-09-21T04:20:50.187" v="23" actId="1076"/>
          <ac:spMkLst>
            <pc:docMk/>
            <pc:sldMk cId="3943806512" sldId="259"/>
            <ac:spMk id="23" creationId="{D0DB362E-2E06-9503-5B96-C274BB6F2696}"/>
          </ac:spMkLst>
        </pc:spChg>
        <pc:spChg chg="add mod">
          <ac:chgData name="红峰 王" userId="8007e7a727d8f4b4" providerId="LiveId" clId="{DE34638D-08ED-4C43-BF95-EAE9BB525ABC}" dt="2026-09-21T04:20:50.187" v="23" actId="1076"/>
          <ac:spMkLst>
            <pc:docMk/>
            <pc:sldMk cId="3943806512" sldId="259"/>
            <ac:spMk id="25" creationId="{14ECFF3A-82BF-9FED-5A50-F4A5B5438121}"/>
          </ac:spMkLst>
        </pc:spChg>
        <pc:spChg chg="add mod">
          <ac:chgData name="红峰 王" userId="8007e7a727d8f4b4" providerId="LiveId" clId="{DE34638D-08ED-4C43-BF95-EAE9BB525ABC}" dt="2026-09-21T04:20:50.187" v="23" actId="1076"/>
          <ac:spMkLst>
            <pc:docMk/>
            <pc:sldMk cId="3943806512" sldId="259"/>
            <ac:spMk id="27" creationId="{AE9CCDE5-B6D4-0509-54A8-88B95859420A}"/>
          </ac:spMkLst>
        </pc:spChg>
        <pc:spChg chg="add mod">
          <ac:chgData name="红峰 王" userId="8007e7a727d8f4b4" providerId="LiveId" clId="{DE34638D-08ED-4C43-BF95-EAE9BB525ABC}" dt="2026-09-21T04:20:50.187" v="23" actId="1076"/>
          <ac:spMkLst>
            <pc:docMk/>
            <pc:sldMk cId="3943806512" sldId="259"/>
            <ac:spMk id="29" creationId="{5FA019A3-0DBF-5A4E-DD23-8D01D75FDC00}"/>
          </ac:spMkLst>
        </pc:spChg>
        <pc:spChg chg="add mod">
          <ac:chgData name="红峰 王" userId="8007e7a727d8f4b4" providerId="LiveId" clId="{DE34638D-08ED-4C43-BF95-EAE9BB525ABC}" dt="2026-09-21T04:20:50.187" v="23" actId="1076"/>
          <ac:spMkLst>
            <pc:docMk/>
            <pc:sldMk cId="3943806512" sldId="259"/>
            <ac:spMk id="31" creationId="{2C8EF76A-D38E-4913-714D-F7B2D0CD5C05}"/>
          </ac:spMkLst>
        </pc:spChg>
        <pc:spChg chg="add mod">
          <ac:chgData name="红峰 王" userId="8007e7a727d8f4b4" providerId="LiveId" clId="{DE34638D-08ED-4C43-BF95-EAE9BB525ABC}" dt="2026-09-21T04:20:50.187" v="23" actId="1076"/>
          <ac:spMkLst>
            <pc:docMk/>
            <pc:sldMk cId="3943806512" sldId="259"/>
            <ac:spMk id="33" creationId="{6C0BF8A8-1F54-91AA-91EB-A069051D5B6A}"/>
          </ac:spMkLst>
        </pc:spChg>
        <pc:spChg chg="add mod">
          <ac:chgData name="红峰 王" userId="8007e7a727d8f4b4" providerId="LiveId" clId="{DE34638D-08ED-4C43-BF95-EAE9BB525ABC}" dt="2026-09-21T04:21:50.801" v="36" actId="1076"/>
          <ac:spMkLst>
            <pc:docMk/>
            <pc:sldMk cId="3943806512" sldId="259"/>
            <ac:spMk id="35" creationId="{C863992A-11F3-2334-9596-590CD3088C36}"/>
          </ac:spMkLst>
        </pc:spChg>
        <pc:picChg chg="add del mod">
          <ac:chgData name="红峰 王" userId="8007e7a727d8f4b4" providerId="LiveId" clId="{DE34638D-08ED-4C43-BF95-EAE9BB525ABC}" dt="2026-09-21T04:20:16.877" v="19" actId="22"/>
          <ac:picMkLst>
            <pc:docMk/>
            <pc:sldMk cId="3943806512" sldId="259"/>
            <ac:picMk id="5" creationId="{C40DF603-6C45-E825-08CE-DB0946603945}"/>
          </ac:picMkLst>
        </pc:picChg>
        <pc:picChg chg="add mod">
          <ac:chgData name="红峰 王" userId="8007e7a727d8f4b4" providerId="LiveId" clId="{DE34638D-08ED-4C43-BF95-EAE9BB525ABC}" dt="2026-09-21T04:20:46.499" v="22" actId="14100"/>
          <ac:picMkLst>
            <pc:docMk/>
            <pc:sldMk cId="3943806512" sldId="259"/>
            <ac:picMk id="21" creationId="{DB3ECFE9-4A0E-9AA3-03F7-9DD862154EFE}"/>
          </ac:picMkLst>
        </pc:picChg>
      </pc:sldChg>
      <pc:sldChg chg="addSp modSp new mod">
        <pc:chgData name="红峰 王" userId="8007e7a727d8f4b4" providerId="LiveId" clId="{DE34638D-08ED-4C43-BF95-EAE9BB525ABC}" dt="2026-09-21T04:57:41.824" v="84" actId="1076"/>
        <pc:sldMkLst>
          <pc:docMk/>
          <pc:sldMk cId="2710471899" sldId="260"/>
        </pc:sldMkLst>
        <pc:spChg chg="add mod">
          <ac:chgData name="红峰 王" userId="8007e7a727d8f4b4" providerId="LiveId" clId="{DE34638D-08ED-4C43-BF95-EAE9BB525ABC}" dt="2026-09-21T04:57:20.616" v="78" actId="14100"/>
          <ac:spMkLst>
            <pc:docMk/>
            <pc:sldMk cId="2710471899" sldId="260"/>
            <ac:spMk id="3" creationId="{19FB2A29-A348-CBBA-1952-EB5AAC0ED8FF}"/>
          </ac:spMkLst>
        </pc:spChg>
        <pc:spChg chg="add mod">
          <ac:chgData name="红峰 王" userId="8007e7a727d8f4b4" providerId="LiveId" clId="{DE34638D-08ED-4C43-BF95-EAE9BB525ABC}" dt="2026-09-21T04:57:41.824" v="84" actId="1076"/>
          <ac:spMkLst>
            <pc:docMk/>
            <pc:sldMk cId="2710471899" sldId="260"/>
            <ac:spMk id="5" creationId="{CE86F341-E985-C82D-109A-65096C9EFA29}"/>
          </ac:spMkLst>
        </pc:spChg>
      </pc:sldChg>
      <pc:sldChg chg="new del">
        <pc:chgData name="红峰 王" userId="8007e7a727d8f4b4" providerId="LiveId" clId="{DE34638D-08ED-4C43-BF95-EAE9BB525ABC}" dt="2026-09-21T04:56:32.316" v="74" actId="680"/>
        <pc:sldMkLst>
          <pc:docMk/>
          <pc:sldMk cId="4270039640" sldId="260"/>
        </pc:sldMkLst>
      </pc:sldChg>
      <pc:sldChg chg="addSp modSp new mod">
        <pc:chgData name="红峰 王" userId="8007e7a727d8f4b4" providerId="LiveId" clId="{DE34638D-08ED-4C43-BF95-EAE9BB525ABC}" dt="2026-09-21T05:13:28.648" v="129" actId="20577"/>
        <pc:sldMkLst>
          <pc:docMk/>
          <pc:sldMk cId="185465781" sldId="261"/>
        </pc:sldMkLst>
        <pc:spChg chg="add mod">
          <ac:chgData name="红峰 王" userId="8007e7a727d8f4b4" providerId="LiveId" clId="{DE34638D-08ED-4C43-BF95-EAE9BB525ABC}" dt="2026-09-21T05:13:28.648" v="129" actId="20577"/>
          <ac:spMkLst>
            <pc:docMk/>
            <pc:sldMk cId="185465781" sldId="261"/>
            <ac:spMk id="3" creationId="{1EF1A748-5D37-E3BA-F02D-7828291EE2CC}"/>
          </ac:spMkLst>
        </pc:spChg>
        <pc:spChg chg="add mod">
          <ac:chgData name="红峰 王" userId="8007e7a727d8f4b4" providerId="LiveId" clId="{DE34638D-08ED-4C43-BF95-EAE9BB525ABC}" dt="2026-09-21T05:12:22.575" v="95" actId="14100"/>
          <ac:spMkLst>
            <pc:docMk/>
            <pc:sldMk cId="185465781" sldId="261"/>
            <ac:spMk id="5" creationId="{B1AEE7F9-E826-A775-2057-AE30DDB7AF6D}"/>
          </ac:spMkLst>
        </pc:spChg>
      </pc:sldChg>
      <pc:sldChg chg="addSp modSp new mod">
        <pc:chgData name="红峰 王" userId="8007e7a727d8f4b4" providerId="LiveId" clId="{DE34638D-08ED-4C43-BF95-EAE9BB525ABC}" dt="2026-09-21T05:20:57.070" v="137" actId="14100"/>
        <pc:sldMkLst>
          <pc:docMk/>
          <pc:sldMk cId="1436389271" sldId="262"/>
        </pc:sldMkLst>
        <pc:spChg chg="add mod">
          <ac:chgData name="红峰 王" userId="8007e7a727d8f4b4" providerId="LiveId" clId="{DE34638D-08ED-4C43-BF95-EAE9BB525ABC}" dt="2026-09-21T05:20:42.315" v="134" actId="14100"/>
          <ac:spMkLst>
            <pc:docMk/>
            <pc:sldMk cId="1436389271" sldId="262"/>
            <ac:spMk id="3" creationId="{A361D801-9871-F119-B981-B72242A87E40}"/>
          </ac:spMkLst>
        </pc:spChg>
        <pc:spChg chg="add mod">
          <ac:chgData name="红峰 王" userId="8007e7a727d8f4b4" providerId="LiveId" clId="{DE34638D-08ED-4C43-BF95-EAE9BB525ABC}" dt="2026-09-21T05:20:57.070" v="137" actId="14100"/>
          <ac:spMkLst>
            <pc:docMk/>
            <pc:sldMk cId="1436389271" sldId="262"/>
            <ac:spMk id="5" creationId="{250A26B6-E6F4-D8F5-172D-46B805F7E93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A7F3BB-A78A-E110-5DE6-C25B3AF36E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1CD9542-C38C-A848-8C26-6156CC16A7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9B6230-8DAE-5043-F18C-3617EDB77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43DCE-0917-4519-9EBE-AD03372761C4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BE6E11-B091-9CC7-83E8-AF47C174E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72362E-DD15-74E1-F99E-D85C830B2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4246D-A2D5-4BAB-98A7-9EEF5032DC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0279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D77FED-EE9B-3AA5-A199-FAD4E9EFA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E9C3A8-CF9A-BE5B-D1D0-D92CE2A36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56ADA8-9895-5E13-F282-0FF709D6A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43DCE-0917-4519-9EBE-AD03372761C4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B6B914-CF01-34A7-5EB3-A01BEF88C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0045AF-24B8-B0A4-0C89-6987F656B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4246D-A2D5-4BAB-98A7-9EEF5032DC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0218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BC0A51-E3BA-5117-EFF5-4ECF79179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1230DC4-A167-4B5C-8934-DDDA99C9F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35F5F7-BF79-F8AB-F7DC-03735A2A9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43DCE-0917-4519-9EBE-AD03372761C4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D17A21-82A7-9DE9-8A7E-9E5F29320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83A04B-098F-24F6-7F46-C3B377A1B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4246D-A2D5-4BAB-98A7-9EEF5032DC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6273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F33977-C9B7-2B38-4320-FA331022F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5D80C2-0D11-BDC3-10DE-066D0B2376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02BB86-ACDB-54D8-42D5-D1B6A1180D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503C871-3D0A-9C1B-2FCC-846AD9505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43DCE-0917-4519-9EBE-AD03372761C4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A0971FB-1E45-F866-796A-35F2C0ED8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6F2065D-5EED-2DCD-E226-DCD12801A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4246D-A2D5-4BAB-98A7-9EEF5032DC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055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FE3D6C-3DEF-1EB5-68B6-F77451F21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9721EF-6450-2B1C-E131-5D2D569EC5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2D298EE-C812-8FCC-7802-1B54A417AB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4ADB84C-9B83-80DC-0F2D-88A12E26A6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C7A8214-3EFA-D243-8A85-A12F036A78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B05B835-9896-FF2F-5983-EA0641CBF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43DCE-0917-4519-9EBE-AD03372761C4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89624F1-B26D-0F89-8580-EBFBD5B18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4149EEC-15B3-CEF1-70B0-504854FBC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4246D-A2D5-4BAB-98A7-9EEF5032DC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7219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2B1010-E0F7-0B7D-D98C-6C3606455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F68EEF8-6B5F-B395-1EEC-EA4B0902E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43DCE-0917-4519-9EBE-AD03372761C4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89EAD54-5E05-0AF2-A01B-E536C992F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7213932-913F-7FC0-68C3-C0368F095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4246D-A2D5-4BAB-98A7-9EEF5032DC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3122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B8412FB-20A1-C5AF-4FD7-3F52B0A63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43DCE-0917-4519-9EBE-AD03372761C4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467C63B-3F74-E705-E602-F42AFF43D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B48387-93DE-AD66-9996-9E7464211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4246D-A2D5-4BAB-98A7-9EEF5032DC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3523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0F269A-6101-6160-CF35-3CB12778E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C7DAD8-D082-107D-269D-392955779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BF9ECDF-9ABC-8817-24AF-36A0E34CD0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6D7AEC9-07CB-1ED3-0F01-B86B12B61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43DCE-0917-4519-9EBE-AD03372761C4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E3D542-5A94-92AC-5CE2-0F97C67F6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93F6B9B-DFFF-41DB-592D-0C411BC0C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4246D-A2D5-4BAB-98A7-9EEF5032DC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5444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A4A66A-EEF5-B0FB-9400-022E16AD7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01C415C-9BDE-8187-5477-B6AF106E7C0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47574E3-C1AF-2129-4B7C-82F89C31DE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EAC9FB-FE5F-876D-8008-ACDD2B9C2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43DCE-0917-4519-9EBE-AD03372761C4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25ACACB-5A6A-5ACE-DCAB-776F19B80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D8FFCFE-A5F6-58AE-64A5-F45485EB2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4246D-A2D5-4BAB-98A7-9EEF5032DC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1658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93DE6B-0491-D11B-3BC9-322BE2FDB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EB3480D-7877-5589-4E4A-5B73650A2B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8D2A6F-74D4-748A-6FD4-18EB29262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43DCE-0917-4519-9EBE-AD03372761C4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06B6D5-FF31-274C-C74D-BE62AE593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16020A-742C-009F-804D-4E7EAA6E9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4246D-A2D5-4BAB-98A7-9EEF5032DC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5276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610C600-7CE9-B2C5-BC0D-5001BB820E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876F3EC-3FE7-0977-94AA-B7D91D0DCB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ED846D-A972-A2FB-28B6-106C80515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43DCE-0917-4519-9EBE-AD03372761C4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A88547-0132-AB4A-800B-0D373F697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9DDC95-2E55-9918-7EF5-A0C674D68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4246D-A2D5-4BAB-98A7-9EEF5032DC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1787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0D3818A-6AF7-8475-3937-99D6AEDDD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D0EEF4-D347-DDB8-CBCE-E31C37A5A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7EB87E-6EB9-0A8B-79D7-E49F4AFA3D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843DCE-0917-4519-9EBE-AD03372761C4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3F9DDA-51DC-2D7E-81D7-7CAA6F5F01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446063-1DE8-8D0E-0002-42EAF828F8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E4246D-A2D5-4BAB-98A7-9EEF5032DC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8677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advanced.onlinelibrary.wiley.com/doi/10.1002/advs.202523680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cademic.oup.com/nar/article/47/10/5420/5446253" TargetMode="External"/><Relationship Id="rId2" Type="http://schemas.openxmlformats.org/officeDocument/2006/relationships/hyperlink" Target="https://www.cell.com/molecular-cell/fulltext/S1097-2765(18)30173-4?_returnURL=https%3A%2F%2Flinkinghub.elsevier.com%2Fretrieve%2Fpii%2FS1097276518301734%3Fshowall%3Dtrue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s41587-026-03160-x#Sec8" TargetMode="External"/><Relationship Id="rId2" Type="http://schemas.openxmlformats.org/officeDocument/2006/relationships/hyperlink" Target="https://www.nature.com/articles/s41587-026-03160-x#MOESM1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nature.com/articles/s41587-022-01419-7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orxiv.org/content/10.64898/2026.06.23.734040v2" TargetMode="External"/><Relationship Id="rId2" Type="http://schemas.openxmlformats.org/officeDocument/2006/relationships/hyperlink" Target="https://www.nature.com/articles/s41586-022-05560-w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80D5AAC7-CEC7-9274-0256-6F04E7FD1E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472699" cy="523220"/>
          </a:xfrm>
          <a:prstGeom prst="rect">
            <a:avLst/>
          </a:prstGeom>
          <a:noFill/>
          <a:ln w="0">
            <a:noFill/>
          </a:ln>
        </p:spPr>
        <p:txBody>
          <a:bodyPr wrap="none">
            <a:spAutoFit/>
          </a:bodyPr>
          <a:lstStyle/>
          <a:p>
            <a:pPr>
              <a:defRPr sz="345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00" b="1" dirty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Cas13d </a:t>
            </a:r>
            <a:r>
              <a:rPr sz="2800" b="1" dirty="0" err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的识别与反式切割</a:t>
            </a:r>
            <a:endParaRPr sz="2800" b="1" dirty="0">
              <a:solidFill>
                <a:srgbClr val="172D3A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DB3ECFE9-4A0E-9AA3-03F7-9DD862154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274614" y="971551"/>
            <a:ext cx="7223466" cy="4564328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D0DB362E-2E06-9503-5B96-C274BB6F2696}"/>
              </a:ext>
            </a:extLst>
          </p:cNvPr>
          <p:cNvSpPr>
            <a:spLocks noGrp="1"/>
          </p:cNvSpPr>
          <p:nvPr/>
        </p:nvSpPr>
        <p:spPr>
          <a:xfrm>
            <a:off x="8001000" y="914400"/>
            <a:ext cx="428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167E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E87"/>
                </a:solidFill>
                <a:latin typeface="Microsoft YaHei"/>
                <a:ea typeface="Microsoft YaHei"/>
                <a:cs typeface="Microsoft YaHei"/>
              </a:rPr>
              <a:t>识别与激活分开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4ECFF3A-82BF-9FED-5A50-F4A5B5438121}"/>
              </a:ext>
            </a:extLst>
          </p:cNvPr>
          <p:cNvSpPr>
            <a:spLocks noGrp="1"/>
          </p:cNvSpPr>
          <p:nvPr/>
        </p:nvSpPr>
        <p:spPr>
          <a:xfrm>
            <a:off x="8001000" y="1419225"/>
            <a:ext cx="4191000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RNA 结合成功，不一定完成 HEPN 活化。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E9CCDE5-B6D4-0509-54A8-88B95859420A}"/>
              </a:ext>
            </a:extLst>
          </p:cNvPr>
          <p:cNvSpPr>
            <a:spLocks noGrp="1"/>
          </p:cNvSpPr>
          <p:nvPr/>
        </p:nvSpPr>
        <p:spPr>
          <a:xfrm>
            <a:off x="8001000" y="2676525"/>
            <a:ext cx="428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167E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E87"/>
                </a:solidFill>
                <a:latin typeface="Microsoft YaHei"/>
                <a:ea typeface="Microsoft YaHei"/>
                <a:cs typeface="Microsoft YaHei"/>
              </a:rPr>
              <a:t>错配影响激活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FA019A3-0DBF-5A4E-DD23-8D01D75FDC00}"/>
              </a:ext>
            </a:extLst>
          </p:cNvPr>
          <p:cNvSpPr>
            <a:spLocks noGrp="1"/>
          </p:cNvSpPr>
          <p:nvPr/>
        </p:nvSpPr>
        <p:spPr>
          <a:xfrm>
            <a:off x="8001000" y="3181350"/>
            <a:ext cx="4191000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 err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近端错配可使复合物停留在非活性状态</a:t>
            </a:r>
            <a:r>
              <a:rPr sz="2100" b="0" dirty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C8EF76A-D38E-4913-714D-F7B2D0CD5C05}"/>
              </a:ext>
            </a:extLst>
          </p:cNvPr>
          <p:cNvSpPr>
            <a:spLocks noGrp="1"/>
          </p:cNvSpPr>
          <p:nvPr/>
        </p:nvSpPr>
        <p:spPr>
          <a:xfrm>
            <a:off x="8001000" y="4438650"/>
            <a:ext cx="428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167E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E87"/>
                </a:solidFill>
                <a:latin typeface="Microsoft YaHei"/>
                <a:ea typeface="Microsoft YaHei"/>
                <a:cs typeface="Microsoft YaHei"/>
              </a:rPr>
              <a:t>工程需同时看特异性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C0BF8A8-1F54-91AA-91EB-A069051D5B6A}"/>
              </a:ext>
            </a:extLst>
          </p:cNvPr>
          <p:cNvSpPr>
            <a:spLocks noGrp="1"/>
          </p:cNvSpPr>
          <p:nvPr/>
        </p:nvSpPr>
        <p:spPr>
          <a:xfrm>
            <a:off x="8001000" y="4943475"/>
            <a:ext cx="4191000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 err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更易激活可能改变错配容忍度</a:t>
            </a:r>
            <a:r>
              <a:rPr sz="2100" b="0" dirty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863992A-11F3-2334-9596-590CD3088C36}"/>
              </a:ext>
            </a:extLst>
          </p:cNvPr>
          <p:cNvSpPr txBox="1"/>
          <p:nvPr/>
        </p:nvSpPr>
        <p:spPr>
          <a:xfrm>
            <a:off x="0" y="6561602"/>
            <a:ext cx="93954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zh-CN" altLang="zh-CN" sz="140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+mn-lt"/>
              </a:rPr>
              <a:t>Structural basis for target discrimination and activation by Cas13d</a:t>
            </a:r>
            <a:endParaRPr lang="zh-CN" altLang="zh-CN" sz="1400" i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3806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1919FBB5-BF0F-B83A-FF21-7AED3F08B311}"/>
              </a:ext>
            </a:extLst>
          </p:cNvPr>
          <p:cNvSpPr txBox="1"/>
          <p:nvPr/>
        </p:nvSpPr>
        <p:spPr>
          <a:xfrm>
            <a:off x="420932" y="946017"/>
            <a:ext cx="1116358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rtl="0">
              <a:buNone/>
            </a:pPr>
            <a:r>
              <a:rPr lang="zh-CN" altLang="zh-CN" sz="1800" b="1" dirty="0">
                <a:solidFill>
                  <a:schemeClr val="tx1"/>
                </a:solidFill>
                <a:effectLst/>
                <a:ea typeface="Open Sans" panose="020B0606030504020204" pitchFamily="34" charset="0"/>
              </a:rPr>
              <a:t>A Modular and Programmable Cas13d Platform for RNA Single Nucleotide Variant Detection</a:t>
            </a:r>
            <a:endParaRPr lang="zh-CN" altLang="zh-CN" sz="1800" dirty="0">
              <a:solidFill>
                <a:schemeClr val="tx1"/>
              </a:solidFill>
              <a:effectLst/>
              <a:ea typeface="Open Sans" panose="020B0606030504020204" pitchFamily="34" charset="0"/>
            </a:endParaRPr>
          </a:p>
          <a:p>
            <a:pPr marL="0" marR="0" rtl="0">
              <a:buNone/>
            </a:pPr>
            <a:r>
              <a:rPr lang="zh-CN" altLang="zh-CN" sz="1800" dirty="0">
                <a:effectLst/>
                <a:ea typeface="Calibri" panose="020F0502020204030204" pitchFamily="34" charset="0"/>
              </a:rPr>
              <a:t> </a:t>
            </a:r>
          </a:p>
          <a:p>
            <a:pPr marL="0" rtl="0">
              <a:buNone/>
            </a:pPr>
            <a:r>
              <a:rPr lang="zh-CN" altLang="zh-CN" sz="1800" i="1" dirty="0">
                <a:solidFill>
                  <a:schemeClr val="tx1"/>
                </a:solidFill>
                <a:effectLst/>
                <a:ea typeface="Microsoft YaHei" panose="020B0503020204020204" pitchFamily="34" charset="-122"/>
              </a:rPr>
              <a:t>来自</a:t>
            </a:r>
            <a:r>
              <a:rPr lang="zh-CN" altLang="zh-CN" sz="1800" i="1" dirty="0"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 &lt;</a:t>
            </a:r>
            <a:r>
              <a:rPr lang="zh-CN" altLang="zh-CN" sz="1800" i="1" dirty="0">
                <a:solidFill>
                  <a:schemeClr val="tx1"/>
                </a:solidFill>
                <a:effectLst/>
                <a:ea typeface="Calibri" panose="020F0502020204030204" pitchFamily="34" charset="0"/>
                <a:hlinkClick r:id="rId2"/>
              </a:rPr>
              <a:t>https://advanced.onlinelibrary.wiley.com/doi/10.1002/advs.202523680</a:t>
            </a:r>
            <a:r>
              <a:rPr lang="zh-CN" altLang="zh-CN" sz="1800" i="1" dirty="0"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&gt; </a:t>
            </a:r>
            <a:endParaRPr lang="zh-CN" altLang="zh-CN" sz="1800" dirty="0">
              <a:effectLst/>
              <a:ea typeface="Calibri" panose="020F0502020204030204" pitchFamily="34" charset="0"/>
            </a:endParaRPr>
          </a:p>
          <a:p>
            <a:pPr marL="0" marR="0" rtl="0">
              <a:buNone/>
            </a:pPr>
            <a:r>
              <a:rPr lang="zh-CN" altLang="zh-CN" sz="1800" dirty="0">
                <a:effectLst/>
                <a:ea typeface="Microsoft YaHei" panose="020B0503020204020204" pitchFamily="34" charset="-122"/>
              </a:rPr>
              <a:t>该文章主要是想提高</a:t>
            </a:r>
            <a:r>
              <a:rPr lang="en-US" altLang="zh-CN" sz="1800" dirty="0">
                <a:effectLst/>
                <a:ea typeface="Microsoft YaHei" panose="020B0503020204020204" pitchFamily="34" charset="-122"/>
              </a:rPr>
              <a:t>Cas13d </a:t>
            </a:r>
            <a:r>
              <a:rPr lang="zh-CN" altLang="zh-CN" sz="1800" dirty="0">
                <a:effectLst/>
                <a:ea typeface="Microsoft YaHei" panose="020B0503020204020204" pitchFamily="34" charset="-122"/>
              </a:rPr>
              <a:t>识别</a:t>
            </a:r>
            <a:r>
              <a:rPr lang="en-US" altLang="zh-CN" sz="1800" dirty="0">
                <a:effectLst/>
                <a:ea typeface="Microsoft YaHei" panose="020B0503020204020204" pitchFamily="34" charset="-122"/>
              </a:rPr>
              <a:t> </a:t>
            </a:r>
            <a:r>
              <a:rPr lang="zh-CN" altLang="zh-CN" sz="1800" dirty="0">
                <a:effectLst/>
                <a:ea typeface="Microsoft YaHei" panose="020B0503020204020204" pitchFamily="34" charset="-122"/>
              </a:rPr>
              <a:t>单核苷酸突变（</a:t>
            </a:r>
            <a:r>
              <a:rPr lang="en-US" altLang="zh-CN" sz="1800" dirty="0">
                <a:effectLst/>
                <a:ea typeface="Microsoft YaHei" panose="020B0503020204020204" pitchFamily="34" charset="-122"/>
              </a:rPr>
              <a:t>SNV</a:t>
            </a:r>
            <a:r>
              <a:rPr lang="zh-CN" altLang="zh-CN" sz="1800" dirty="0">
                <a:effectLst/>
                <a:ea typeface="Microsoft YaHei" panose="020B0503020204020204" pitchFamily="34" charset="-122"/>
              </a:rPr>
              <a:t>）的</a:t>
            </a:r>
            <a:r>
              <a:rPr lang="en-US" altLang="zh-CN" sz="1800" dirty="0">
                <a:effectLst/>
                <a:ea typeface="Microsoft YaHei" panose="020B0503020204020204" pitchFamily="34" charset="-122"/>
              </a:rPr>
              <a:t>target RNA </a:t>
            </a:r>
            <a:r>
              <a:rPr lang="zh-CN" altLang="zh-CN" sz="1800" dirty="0">
                <a:effectLst/>
                <a:ea typeface="Microsoft YaHei" panose="020B0503020204020204" pitchFamily="34" charset="-122"/>
              </a:rPr>
              <a:t>的特异性，发现在</a:t>
            </a:r>
            <a:r>
              <a:rPr lang="en-US" altLang="zh-CN" sz="1800" dirty="0">
                <a:effectLst/>
                <a:ea typeface="Microsoft YaHei" panose="020B0503020204020204" pitchFamily="34" charset="-122"/>
              </a:rPr>
              <a:t>spacer</a:t>
            </a:r>
            <a:r>
              <a:rPr lang="zh-CN" altLang="zh-CN" sz="1800" dirty="0">
                <a:effectLst/>
                <a:ea typeface="Microsoft YaHei" panose="020B0503020204020204" pitchFamily="34" charset="-122"/>
              </a:rPr>
              <a:t>引入错配能够提高特异性，然而这会降低切割效率。作者通过工程化改造</a:t>
            </a:r>
            <a:r>
              <a:rPr lang="en-US" altLang="zh-CN" sz="1800" dirty="0">
                <a:effectLst/>
                <a:ea typeface="Microsoft YaHei" panose="020B0503020204020204" pitchFamily="34" charset="-122"/>
              </a:rPr>
              <a:t>Cas13d</a:t>
            </a:r>
            <a:r>
              <a:rPr lang="zh-CN" altLang="zh-CN" sz="1800" dirty="0">
                <a:effectLst/>
                <a:ea typeface="Microsoft YaHei" panose="020B0503020204020204" pitchFamily="34" charset="-122"/>
              </a:rPr>
              <a:t>提高其效率，弥补了这一部分，并保留了特异性</a:t>
            </a:r>
          </a:p>
          <a:p>
            <a:pPr marL="0" marR="0" rtl="0">
              <a:buNone/>
            </a:pPr>
            <a:r>
              <a:rPr lang="zh-CN" altLang="zh-CN" sz="1800" dirty="0">
                <a:effectLst/>
                <a:ea typeface="Microsoft YaHei" panose="020B0503020204020204" pitchFamily="34" charset="-122"/>
              </a:rPr>
              <a:t>技术路线：在骨架内部引入</a:t>
            </a:r>
            <a:r>
              <a:rPr lang="en-US" altLang="zh-CN" sz="1800" dirty="0">
                <a:effectLst/>
                <a:ea typeface="Microsoft YaHei" panose="020B0503020204020204" pitchFamily="34" charset="-122"/>
              </a:rPr>
              <a:t>RNA</a:t>
            </a:r>
            <a:r>
              <a:rPr lang="zh-CN" altLang="zh-CN" sz="1800" dirty="0">
                <a:effectLst/>
                <a:ea typeface="Microsoft YaHei" panose="020B0503020204020204" pitchFamily="34" charset="-122"/>
              </a:rPr>
              <a:t>结合结构域（</a:t>
            </a:r>
            <a:r>
              <a:rPr lang="en-US" altLang="zh-CN" sz="1800" dirty="0">
                <a:effectLst/>
                <a:ea typeface="Microsoft YaHei" panose="020B0503020204020204" pitchFamily="34" charset="-122"/>
              </a:rPr>
              <a:t>RDB</a:t>
            </a:r>
            <a:r>
              <a:rPr lang="zh-CN" altLang="zh-CN" sz="1800" dirty="0">
                <a:effectLst/>
                <a:ea typeface="Microsoft YaHei" panose="020B0503020204020204" pitchFamily="34" charset="-122"/>
              </a:rPr>
              <a:t>）</a:t>
            </a:r>
          </a:p>
          <a:p>
            <a:pPr marL="0" marR="0" rtl="0">
              <a:buNone/>
            </a:pPr>
            <a:r>
              <a:rPr lang="zh-CN" altLang="en-US" dirty="0">
                <a:ea typeface="Microsoft YaHei" panose="020B0503020204020204" pitchFamily="34" charset="-122"/>
              </a:rPr>
              <a:t>纯体外动力学、</a:t>
            </a:r>
            <a:r>
              <a:rPr lang="zh-CN" altLang="zh-CN" sz="1800" dirty="0">
                <a:effectLst/>
                <a:ea typeface="Microsoft YaHei" panose="020B0503020204020204" pitchFamily="34" charset="-122"/>
              </a:rPr>
              <a:t>不同种的蛋白需要个性化设计</a:t>
            </a:r>
            <a:endParaRPr lang="zh-CN" altLang="zh-CN" sz="1100" dirty="0">
              <a:effectLst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25917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9FB2A29-A348-CBBA-1952-EB5AAC0ED8FF}"/>
              </a:ext>
            </a:extLst>
          </p:cNvPr>
          <p:cNvSpPr txBox="1"/>
          <p:nvPr/>
        </p:nvSpPr>
        <p:spPr>
          <a:xfrm>
            <a:off x="480060" y="346978"/>
            <a:ext cx="1138428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rtl="0">
              <a:buNone/>
            </a:pPr>
            <a:r>
              <a:rPr lang="zh-CN" altLang="zh-CN" sz="1800" dirty="0">
                <a:solidFill>
                  <a:schemeClr val="tx1"/>
                </a:solidFill>
                <a:effectLst/>
                <a:ea typeface="helvetica" panose="020B0604020202020204" pitchFamily="34" charset="0"/>
              </a:rPr>
              <a:t>Cas13d Is a Compact RNA-Targeting Type VI CRISPR Effector Positively Modulated by a WYL-Domain-Containing Accessory Protein</a:t>
            </a:r>
          </a:p>
          <a:p>
            <a:pPr marL="0" marR="0" rtl="0">
              <a:buNone/>
            </a:pPr>
            <a:r>
              <a:rPr lang="zh-CN" altLang="zh-CN" sz="1800" dirty="0">
                <a:effectLst/>
                <a:ea typeface="Calibri" panose="020F0502020204030204" pitchFamily="34" charset="0"/>
              </a:rPr>
              <a:t> </a:t>
            </a:r>
          </a:p>
          <a:p>
            <a:pPr marL="0" rtl="0">
              <a:buNone/>
            </a:pPr>
            <a:r>
              <a:rPr lang="zh-CN" altLang="zh-CN" sz="1800" i="1" dirty="0">
                <a:solidFill>
                  <a:schemeClr val="tx1"/>
                </a:solidFill>
                <a:effectLst/>
                <a:ea typeface="Microsoft YaHei" panose="020B0503020204020204" pitchFamily="34" charset="-122"/>
              </a:rPr>
              <a:t>来自</a:t>
            </a:r>
            <a:r>
              <a:rPr lang="zh-CN" altLang="zh-CN" sz="1800" i="1" dirty="0"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 &lt;</a:t>
            </a:r>
            <a:r>
              <a:rPr lang="zh-CN" altLang="zh-CN" sz="1800" i="1" dirty="0">
                <a:solidFill>
                  <a:schemeClr val="tx1"/>
                </a:solidFill>
                <a:effectLst/>
                <a:ea typeface="Calibri" panose="020F0502020204030204" pitchFamily="34" charset="0"/>
                <a:hlinkClick r:id="rId2"/>
              </a:rPr>
              <a:t>https://www.cell.com/molecular-cell/fulltext/S1097-2765(18)30173-4?_returnURL=https%3A%2F%2Flinkinghub.elsevier.com%2Fretrieve%2Fpii%2FS1097276518301734%3Fshowall%3Dtrue</a:t>
            </a:r>
            <a:r>
              <a:rPr lang="zh-CN" altLang="zh-CN" sz="1800" i="1" dirty="0"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&gt; </a:t>
            </a:r>
            <a:endParaRPr lang="zh-CN" altLang="zh-CN" sz="1800" dirty="0">
              <a:effectLst/>
              <a:ea typeface="Calibri" panose="020F0502020204030204" pitchFamily="34" charset="0"/>
            </a:endParaRPr>
          </a:p>
          <a:p>
            <a:pPr marL="0" marR="0" rtl="0">
              <a:buNone/>
            </a:pPr>
            <a:r>
              <a:rPr lang="zh-CN" altLang="zh-CN" sz="1800" dirty="0">
                <a:effectLst/>
                <a:ea typeface="Calibri" panose="020F0502020204030204" pitchFamily="34" charset="0"/>
              </a:rPr>
              <a:t> </a:t>
            </a:r>
          </a:p>
          <a:p>
            <a:pPr marL="0" marR="0" rtl="0">
              <a:buNone/>
            </a:pPr>
            <a:r>
              <a:rPr lang="zh-CN" altLang="zh-CN" sz="1800" dirty="0">
                <a:effectLst/>
                <a:ea typeface="Microsoft YaHei" panose="020B0503020204020204" pitchFamily="34" charset="-122"/>
              </a:rPr>
              <a:t>文章发现，大多数</a:t>
            </a:r>
            <a:r>
              <a:rPr lang="zh-CN" altLang="zh-CN" sz="1800" dirty="0">
                <a:effectLst/>
                <a:ea typeface="Calibri" panose="020F0502020204030204" pitchFamily="34" charset="0"/>
              </a:rPr>
              <a:t> VI-D </a:t>
            </a:r>
            <a:r>
              <a:rPr lang="zh-CN" altLang="zh-CN" sz="1800" dirty="0">
                <a:effectLst/>
                <a:ea typeface="Microsoft YaHei" panose="020B0503020204020204" pitchFamily="34" charset="-122"/>
              </a:rPr>
              <a:t>基因座中有</a:t>
            </a:r>
            <a:r>
              <a:rPr lang="en-US" altLang="zh-CN" sz="1800" dirty="0">
                <a:effectLst/>
                <a:ea typeface="Microsoft YaHei" panose="020B0503020204020204" pitchFamily="34" charset="-122"/>
              </a:rPr>
              <a:t> </a:t>
            </a:r>
            <a:r>
              <a:rPr lang="zh-CN" altLang="zh-CN" sz="1800" dirty="0">
                <a:effectLst/>
                <a:ea typeface="Microsoft YaHei" panose="020B0503020204020204" pitchFamily="34" charset="-122"/>
              </a:rPr>
              <a:t>含</a:t>
            </a:r>
            <a:r>
              <a:rPr lang="zh-CN" altLang="zh-CN" sz="1800" dirty="0">
                <a:effectLst/>
                <a:ea typeface="Calibri" panose="020F0502020204030204" pitchFamily="34" charset="0"/>
              </a:rPr>
              <a:t> WYL </a:t>
            </a:r>
            <a:r>
              <a:rPr lang="zh-CN" altLang="zh-CN" sz="1800" dirty="0">
                <a:effectLst/>
                <a:ea typeface="Microsoft YaHei" panose="020B0503020204020204" pitchFamily="34" charset="-122"/>
              </a:rPr>
              <a:t>结构域的辅助蛋白，他们能够正向调节同源</a:t>
            </a:r>
            <a:r>
              <a:rPr lang="zh-CN" altLang="zh-CN" sz="1800" dirty="0">
                <a:effectLst/>
                <a:ea typeface="Calibri" panose="020F0502020204030204" pitchFamily="34" charset="0"/>
              </a:rPr>
              <a:t> Cas13d </a:t>
            </a:r>
            <a:r>
              <a:rPr lang="zh-CN" altLang="zh-CN" sz="1800" dirty="0">
                <a:effectLst/>
                <a:ea typeface="Microsoft YaHei" panose="020B0503020204020204" pitchFamily="34" charset="-122"/>
              </a:rPr>
              <a:t>效应蛋白的切割活性。</a:t>
            </a:r>
            <a:endParaRPr lang="zh-CN" altLang="zh-CN" sz="1800" dirty="0">
              <a:effectLst/>
              <a:ea typeface="Calibri" panose="020F0502020204030204" pitchFamily="34" charset="0"/>
            </a:endParaRPr>
          </a:p>
          <a:p>
            <a:pPr marL="0" marR="0" rtl="0">
              <a:buNone/>
            </a:pPr>
            <a:r>
              <a:rPr lang="zh-CN" altLang="zh-CN" sz="1800" dirty="0">
                <a:effectLst/>
                <a:ea typeface="Microsoft YaHei" panose="020B0503020204020204" pitchFamily="34" charset="-122"/>
              </a:rPr>
              <a:t> </a:t>
            </a:r>
          </a:p>
          <a:p>
            <a:pPr marL="0" marR="0" rtl="0">
              <a:buNone/>
            </a:pPr>
            <a:r>
              <a:rPr lang="zh-CN" altLang="zh-CN" sz="1800" dirty="0">
                <a:effectLst/>
                <a:ea typeface="Microsoft YaHei" panose="020B0503020204020204" pitchFamily="34" charset="-122"/>
              </a:rPr>
              <a:t>问题：递送容量的限制、辅助蛋白的</a:t>
            </a:r>
            <a:r>
              <a:rPr lang="en-US" altLang="zh-CN" sz="1800" dirty="0">
                <a:effectLst/>
                <a:ea typeface="Microsoft YaHei" panose="020B0503020204020204" pitchFamily="34" charset="-122"/>
              </a:rPr>
              <a:t>off-target</a:t>
            </a:r>
            <a:endParaRPr lang="zh-CN" altLang="zh-CN" sz="1100" dirty="0">
              <a:effectLst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E86F341-E985-C82D-109A-65096C9EFA29}"/>
              </a:ext>
            </a:extLst>
          </p:cNvPr>
          <p:cNvSpPr txBox="1"/>
          <p:nvPr/>
        </p:nvSpPr>
        <p:spPr>
          <a:xfrm>
            <a:off x="247650" y="5565830"/>
            <a:ext cx="116967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zh-CN" altLang="zh-CN" sz="1800" dirty="0">
                <a:effectLst/>
                <a:ea typeface="Calibri" panose="020F0502020204030204" pitchFamily="34" charset="0"/>
              </a:rPr>
              <a:t>Structural insights into the modulatory role of the accessory protein WYL1 in the Type VI-D CRISPR-Cas system</a:t>
            </a:r>
          </a:p>
          <a:p>
            <a:pPr marL="0" marR="0">
              <a:buNone/>
            </a:pPr>
            <a:r>
              <a:rPr lang="zh-CN" altLang="zh-CN" sz="1800" dirty="0">
                <a:effectLst/>
                <a:ea typeface="Calibri" panose="020F0502020204030204" pitchFamily="34" charset="0"/>
              </a:rPr>
              <a:t> </a:t>
            </a:r>
          </a:p>
          <a:p>
            <a:pPr>
              <a:buNone/>
            </a:pPr>
            <a:r>
              <a:rPr lang="zh-CN" altLang="zh-CN" sz="1800" i="1" dirty="0">
                <a:solidFill>
                  <a:schemeClr val="tx1"/>
                </a:solidFill>
                <a:effectLst/>
                <a:ea typeface="Microsoft YaHei" panose="020B0503020204020204" pitchFamily="34" charset="-122"/>
              </a:rPr>
              <a:t>来自</a:t>
            </a:r>
            <a:r>
              <a:rPr lang="zh-CN" altLang="zh-CN" sz="1800" i="1" dirty="0"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 &lt;</a:t>
            </a:r>
            <a:r>
              <a:rPr lang="zh-CN" altLang="zh-CN" sz="1800" i="1" dirty="0">
                <a:solidFill>
                  <a:schemeClr val="tx1"/>
                </a:solidFill>
                <a:effectLst/>
                <a:ea typeface="Calibri" panose="020F0502020204030204" pitchFamily="34" charset="0"/>
                <a:hlinkClick r:id="rId3"/>
              </a:rPr>
              <a:t>https://academic.oup.com/nar/article/47/10/5420/5446253</a:t>
            </a:r>
            <a:r>
              <a:rPr lang="zh-CN" altLang="zh-CN" sz="1800" i="1" dirty="0"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&gt; </a:t>
            </a:r>
            <a:endParaRPr lang="zh-CN" altLang="zh-CN" sz="1800" dirty="0">
              <a:effectLst/>
              <a:ea typeface="Calibri" panose="020F0502020204030204" pitchFamily="34" charset="0"/>
            </a:endParaRPr>
          </a:p>
          <a:p>
            <a:pPr marL="0" marR="0">
              <a:buNone/>
            </a:pPr>
            <a:r>
              <a:rPr lang="zh-CN" altLang="zh-CN" sz="1800" dirty="0">
                <a:effectLst/>
                <a:ea typeface="Microsoft YaHei" panose="020B0503020204020204" pitchFamily="34" charset="-122"/>
              </a:rPr>
              <a:t>解释了</a:t>
            </a:r>
            <a:r>
              <a:rPr lang="en-US" altLang="zh-CN" sz="1800" dirty="0">
                <a:effectLst/>
                <a:ea typeface="Microsoft YaHei" panose="020B0503020204020204" pitchFamily="34" charset="-122"/>
              </a:rPr>
              <a:t> WYL</a:t>
            </a:r>
            <a:r>
              <a:rPr lang="zh-CN" altLang="zh-CN" sz="1800" dirty="0">
                <a:effectLst/>
                <a:ea typeface="Microsoft YaHei" panose="020B0503020204020204" pitchFamily="34" charset="-122"/>
              </a:rPr>
              <a:t>辅助蛋白的一种机制</a:t>
            </a:r>
            <a:endParaRPr lang="zh-CN" altLang="zh-CN" sz="1100" dirty="0">
              <a:effectLst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10471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EF1A748-5D37-E3BA-F02D-7828291EE2CC}"/>
              </a:ext>
            </a:extLst>
          </p:cNvPr>
          <p:cNvSpPr txBox="1"/>
          <p:nvPr/>
        </p:nvSpPr>
        <p:spPr>
          <a:xfrm>
            <a:off x="773430" y="805317"/>
            <a:ext cx="1064514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Programmable, multiplexed and orthogonal gene control in bacteria with attenuated Cas13d systems</a:t>
            </a:r>
            <a:endParaRPr lang="en-US" altLang="zh-CN" dirty="0"/>
          </a:p>
          <a:p>
            <a:endParaRPr lang="en-US" altLang="zh-CN" sz="1800" dirty="0">
              <a:effectLst/>
              <a:ea typeface="Microsoft YaHei" panose="020B0503020204020204" pitchFamily="34" charset="-122"/>
            </a:endParaRPr>
          </a:p>
          <a:p>
            <a:pPr marL="0" marR="0">
              <a:buNone/>
            </a:pPr>
            <a:r>
              <a:rPr lang="zh-CN" altLang="zh-CN" sz="1800" dirty="0">
                <a:effectLst/>
                <a:ea typeface="Microsoft YaHei" panose="020B0503020204020204" pitchFamily="34" charset="-122"/>
              </a:rPr>
              <a:t>我们依次截短了</a:t>
            </a:r>
            <a:r>
              <a:rPr lang="zh-CN" altLang="zh-CN" sz="1800" dirty="0">
                <a:effectLst/>
                <a:ea typeface="Calibri" panose="020F0502020204030204" pitchFamily="34" charset="0"/>
              </a:rPr>
              <a:t> RNase </a:t>
            </a:r>
            <a:r>
              <a:rPr lang="zh-CN" altLang="zh-CN" sz="1800" dirty="0">
                <a:effectLst/>
                <a:ea typeface="Microsoft YaHei" panose="020B0503020204020204" pitchFamily="34" charset="-122"/>
              </a:rPr>
              <a:t>活性中心附近的两个柔性区（残基</a:t>
            </a:r>
            <a:r>
              <a:rPr lang="zh-CN" altLang="zh-CN" sz="1800" dirty="0">
                <a:effectLst/>
                <a:ea typeface="Calibri" panose="020F0502020204030204" pitchFamily="34" charset="0"/>
              </a:rPr>
              <a:t> 481-491 </a:t>
            </a:r>
            <a:r>
              <a:rPr lang="zh-CN" altLang="zh-CN" sz="1800" dirty="0">
                <a:effectLst/>
                <a:ea typeface="Microsoft YaHei" panose="020B0503020204020204" pitchFamily="34" charset="-122"/>
              </a:rPr>
              <a:t>和</a:t>
            </a:r>
            <a:r>
              <a:rPr lang="zh-CN" altLang="zh-CN" sz="1800" dirty="0">
                <a:effectLst/>
                <a:ea typeface="Calibri" panose="020F0502020204030204" pitchFamily="34" charset="0"/>
              </a:rPr>
              <a:t> 1053-1061</a:t>
            </a:r>
            <a:r>
              <a:rPr lang="zh-CN" altLang="zh-CN" sz="1800" dirty="0">
                <a:effectLst/>
                <a:ea typeface="Microsoft YaHei" panose="020B0503020204020204" pitchFamily="34" charset="-122"/>
              </a:rPr>
              <a:t>），生成了</a:t>
            </a:r>
            <a:r>
              <a:rPr lang="zh-CN" altLang="zh-CN" sz="1800" dirty="0">
                <a:effectLst/>
                <a:ea typeface="Calibri" panose="020F0502020204030204" pitchFamily="34" charset="0"/>
              </a:rPr>
              <a:t> 20 </a:t>
            </a:r>
            <a:r>
              <a:rPr lang="zh-CN" altLang="zh-CN" sz="1800" dirty="0">
                <a:effectLst/>
                <a:ea typeface="Microsoft YaHei" panose="020B0503020204020204" pitchFamily="34" charset="-122"/>
              </a:rPr>
              <a:t>个</a:t>
            </a:r>
            <a:r>
              <a:rPr lang="zh-CN" altLang="zh-CN" sz="1800" dirty="0">
                <a:effectLst/>
                <a:ea typeface="Calibri" panose="020F0502020204030204" pitchFamily="34" charset="0"/>
              </a:rPr>
              <a:t> LwCas13a </a:t>
            </a:r>
            <a:r>
              <a:rPr lang="zh-CN" altLang="zh-CN" sz="1800" dirty="0">
                <a:effectLst/>
                <a:ea typeface="Microsoft YaHei" panose="020B0503020204020204" pitchFamily="34" charset="-122"/>
              </a:rPr>
              <a:t>变体（补充图 </a:t>
            </a:r>
            <a:r>
              <a:rPr lang="zh-CN" altLang="zh-CN" sz="1800" dirty="0">
                <a:effectLst/>
                <a:ea typeface="Harding"/>
                <a:hlinkClick r:id="rId2"/>
              </a:rPr>
              <a:t>7a</a:t>
            </a:r>
            <a:r>
              <a:rPr lang="zh-CN" altLang="zh-CN" sz="1800" dirty="0">
                <a:effectLst/>
                <a:ea typeface="Microsoft YaHei" panose="020B0503020204020204" pitchFamily="34" charset="-122"/>
              </a:rPr>
              <a:t> ）。这些变体表现出不同的活性谱，表明柔性区截短可作为</a:t>
            </a:r>
            <a:r>
              <a:rPr lang="zh-CN" altLang="zh-CN" sz="1800" dirty="0">
                <a:effectLst/>
                <a:ea typeface="Calibri" panose="020F0502020204030204" pitchFamily="34" charset="0"/>
              </a:rPr>
              <a:t> Cas13 </a:t>
            </a:r>
            <a:r>
              <a:rPr lang="zh-CN" altLang="zh-CN" sz="1800" dirty="0">
                <a:effectLst/>
                <a:ea typeface="Microsoft YaHei" panose="020B0503020204020204" pitchFamily="34" charset="-122"/>
              </a:rPr>
              <a:t>效应蛋白的通用调控策略</a:t>
            </a:r>
            <a:endParaRPr lang="zh-CN" altLang="zh-CN" sz="1800" dirty="0">
              <a:effectLst/>
              <a:ea typeface="Calibri" panose="020F0502020204030204" pitchFamily="34" charset="0"/>
            </a:endParaRPr>
          </a:p>
          <a:p>
            <a:pPr marL="0" marR="0">
              <a:buNone/>
            </a:pPr>
            <a:r>
              <a:rPr lang="zh-CN" altLang="zh-CN" sz="1800" dirty="0">
                <a:effectLst/>
                <a:ea typeface="Calibri" panose="020F0502020204030204" pitchFamily="34" charset="0"/>
              </a:rPr>
              <a:t> </a:t>
            </a:r>
          </a:p>
          <a:p>
            <a:pPr>
              <a:buNone/>
            </a:pPr>
            <a:r>
              <a:rPr lang="zh-CN" altLang="zh-CN" sz="1800" i="1" dirty="0">
                <a:solidFill>
                  <a:schemeClr val="tx1"/>
                </a:solidFill>
                <a:effectLst/>
                <a:ea typeface="Microsoft YaHei" panose="020B0503020204020204" pitchFamily="34" charset="-122"/>
              </a:rPr>
              <a:t>来自</a:t>
            </a:r>
            <a:r>
              <a:rPr lang="zh-CN" altLang="zh-CN" sz="1800" i="1" dirty="0"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 &lt;</a:t>
            </a:r>
            <a:r>
              <a:rPr lang="zh-CN" altLang="zh-CN" sz="1800" i="1" dirty="0">
                <a:solidFill>
                  <a:schemeClr val="tx1"/>
                </a:solidFill>
                <a:effectLst/>
                <a:ea typeface="Calibri" panose="020F0502020204030204" pitchFamily="34" charset="0"/>
                <a:hlinkClick r:id="rId3"/>
              </a:rPr>
              <a:t>https://www.nature.com/articles/s41587-026-03160-x#Sec8</a:t>
            </a:r>
            <a:r>
              <a:rPr lang="zh-CN" altLang="zh-CN" sz="1800" i="1" dirty="0"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&gt; </a:t>
            </a:r>
            <a:endParaRPr lang="zh-CN" altLang="zh-CN" sz="1800" dirty="0">
              <a:effectLst/>
              <a:ea typeface="Calibri" panose="020F0502020204030204" pitchFamily="34" charset="0"/>
            </a:endParaRPr>
          </a:p>
          <a:p>
            <a:pPr marL="0" marR="0">
              <a:buNone/>
            </a:pPr>
            <a:r>
              <a:rPr lang="zh-CN" altLang="zh-CN" sz="1800" dirty="0">
                <a:effectLst/>
                <a:ea typeface="Calibri" panose="020F0502020204030204" pitchFamily="34" charset="0"/>
              </a:rPr>
              <a:t> </a:t>
            </a:r>
          </a:p>
          <a:p>
            <a:pPr marL="0" marR="0">
              <a:buNone/>
            </a:pPr>
            <a:r>
              <a:rPr lang="zh-CN" altLang="en-US" dirty="0">
                <a:ea typeface="Microsoft YaHei" panose="020B0503020204020204" pitchFamily="34" charset="-122"/>
              </a:rPr>
              <a:t>体外、原核。</a:t>
            </a:r>
            <a:r>
              <a:rPr lang="zh-CN" altLang="zh-CN" sz="1800" dirty="0">
                <a:effectLst/>
                <a:ea typeface="Microsoft YaHei" panose="020B0503020204020204" pitchFamily="34" charset="-122"/>
              </a:rPr>
              <a:t>变体的毒性往往降低，但或许可以筛选出毒性（反式切割活性）提高的变体</a:t>
            </a:r>
            <a:endParaRPr lang="zh-CN" altLang="zh-CN" sz="1100" dirty="0">
              <a:effectLst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1AEE7F9-E826-A775-2057-AE30DDB7AF6D}"/>
              </a:ext>
            </a:extLst>
          </p:cNvPr>
          <p:cNvSpPr txBox="1"/>
          <p:nvPr/>
        </p:nvSpPr>
        <p:spPr>
          <a:xfrm>
            <a:off x="773430" y="4062606"/>
            <a:ext cx="1035177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rtl="0">
              <a:spcAft>
                <a:spcPts val="1200"/>
              </a:spcAft>
              <a:buNone/>
            </a:pPr>
            <a:r>
              <a:rPr lang="zh-CN" altLang="zh-CN" sz="1800" b="1" dirty="0">
                <a:solidFill>
                  <a:schemeClr val="tx1"/>
                </a:solidFill>
                <a:effectLst/>
                <a:ea typeface="Harding"/>
              </a:rPr>
              <a:t>High-fidelity Cas13 variants for targeted RNA degradation with minimal collateral effects</a:t>
            </a:r>
            <a:endParaRPr lang="zh-CN" altLang="zh-CN" sz="1800" dirty="0">
              <a:solidFill>
                <a:schemeClr val="tx1"/>
              </a:solidFill>
              <a:effectLst/>
              <a:ea typeface="Harding"/>
            </a:endParaRPr>
          </a:p>
          <a:p>
            <a:pPr marL="0" marR="0" rtl="0">
              <a:buNone/>
            </a:pPr>
            <a:r>
              <a:rPr lang="zh-CN" altLang="zh-CN" sz="1800" dirty="0">
                <a:effectLst/>
                <a:ea typeface="Calibri" panose="020F0502020204030204" pitchFamily="34" charset="0"/>
              </a:rPr>
              <a:t> </a:t>
            </a:r>
          </a:p>
          <a:p>
            <a:pPr marL="0" rtl="0">
              <a:buNone/>
            </a:pPr>
            <a:r>
              <a:rPr lang="zh-CN" altLang="zh-CN" sz="1800" i="1" dirty="0">
                <a:solidFill>
                  <a:schemeClr val="tx1"/>
                </a:solidFill>
                <a:effectLst/>
                <a:ea typeface="Microsoft YaHei" panose="020B0503020204020204" pitchFamily="34" charset="-122"/>
              </a:rPr>
              <a:t>来自</a:t>
            </a:r>
            <a:r>
              <a:rPr lang="zh-CN" altLang="zh-CN" sz="1800" i="1" dirty="0"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 &lt;</a:t>
            </a:r>
            <a:r>
              <a:rPr lang="zh-CN" altLang="zh-CN" sz="1800" i="1" dirty="0">
                <a:solidFill>
                  <a:schemeClr val="tx1"/>
                </a:solidFill>
                <a:effectLst/>
                <a:ea typeface="Calibri" panose="020F0502020204030204" pitchFamily="34" charset="0"/>
                <a:hlinkClick r:id="rId4"/>
              </a:rPr>
              <a:t>https://www.nature.com/articles/s41587-022-01419-7</a:t>
            </a:r>
            <a:r>
              <a:rPr lang="zh-CN" altLang="zh-CN" sz="1800" i="1" dirty="0"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&gt; </a:t>
            </a:r>
            <a:endParaRPr lang="zh-CN" altLang="zh-CN" sz="1800" dirty="0">
              <a:effectLst/>
              <a:ea typeface="Calibri" panose="020F0502020204030204" pitchFamily="34" charset="0"/>
            </a:endParaRPr>
          </a:p>
          <a:p>
            <a:pPr marL="0" marR="0" rtl="0">
              <a:buNone/>
            </a:pPr>
            <a:r>
              <a:rPr lang="zh-CN" altLang="zh-CN" sz="1800" dirty="0">
                <a:effectLst/>
                <a:ea typeface="Microsoft YaHei" panose="020B0503020204020204" pitchFamily="34" charset="-122"/>
              </a:rPr>
              <a:t>引入不同点突变，筛选出反式切割活性最小的突变体，同样也能筛选出最大的</a:t>
            </a:r>
            <a:endParaRPr lang="zh-CN" altLang="zh-CN" sz="1100" dirty="0">
              <a:effectLst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465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361D801-9871-F119-B981-B72242A87E40}"/>
              </a:ext>
            </a:extLst>
          </p:cNvPr>
          <p:cNvSpPr txBox="1"/>
          <p:nvPr/>
        </p:nvSpPr>
        <p:spPr>
          <a:xfrm>
            <a:off x="365760" y="282702"/>
            <a:ext cx="1077468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rtl="0">
              <a:spcAft>
                <a:spcPts val="1200"/>
              </a:spcAft>
              <a:buNone/>
            </a:pPr>
            <a:r>
              <a:rPr lang="zh-CN" altLang="zh-CN" sz="1800" b="1" dirty="0">
                <a:solidFill>
                  <a:schemeClr val="tx1"/>
                </a:solidFill>
                <a:effectLst/>
                <a:ea typeface="Harding"/>
              </a:rPr>
              <a:t>RNA targeting unleashes indiscriminate nuclease activity of CRISPR–Cas12a2</a:t>
            </a:r>
            <a:endParaRPr lang="zh-CN" altLang="zh-CN" sz="1800" dirty="0">
              <a:solidFill>
                <a:schemeClr val="tx1"/>
              </a:solidFill>
              <a:effectLst/>
              <a:ea typeface="Harding"/>
            </a:endParaRPr>
          </a:p>
          <a:p>
            <a:pPr marL="0" marR="0" rtl="0">
              <a:buNone/>
            </a:pPr>
            <a:r>
              <a:rPr lang="zh-CN" altLang="zh-CN" sz="1800" dirty="0">
                <a:effectLst/>
                <a:ea typeface="Calibri" panose="020F0502020204030204" pitchFamily="34" charset="0"/>
              </a:rPr>
              <a:t> </a:t>
            </a:r>
          </a:p>
          <a:p>
            <a:pPr marL="0" rtl="0">
              <a:buNone/>
            </a:pPr>
            <a:r>
              <a:rPr lang="zh-CN" altLang="zh-CN" sz="1800" i="1" dirty="0">
                <a:solidFill>
                  <a:schemeClr val="tx1"/>
                </a:solidFill>
                <a:effectLst/>
                <a:ea typeface="Microsoft YaHei" panose="020B0503020204020204" pitchFamily="34" charset="-122"/>
              </a:rPr>
              <a:t>来自</a:t>
            </a:r>
            <a:r>
              <a:rPr lang="zh-CN" altLang="zh-CN" sz="1800" i="1" dirty="0"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 &lt;</a:t>
            </a:r>
            <a:r>
              <a:rPr lang="zh-CN" altLang="zh-CN" sz="1800" i="1" dirty="0">
                <a:solidFill>
                  <a:schemeClr val="tx1"/>
                </a:solidFill>
                <a:effectLst/>
                <a:ea typeface="Calibri" panose="020F0502020204030204" pitchFamily="34" charset="0"/>
                <a:hlinkClick r:id="rId2"/>
              </a:rPr>
              <a:t>https://www.nature.com/articles/s41586-022-05560-w</a:t>
            </a:r>
            <a:r>
              <a:rPr lang="zh-CN" altLang="zh-CN" sz="1800" i="1" dirty="0"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&gt; </a:t>
            </a:r>
            <a:endParaRPr lang="zh-CN" altLang="zh-CN" sz="1800" dirty="0">
              <a:effectLst/>
              <a:ea typeface="Calibri" panose="020F0502020204030204" pitchFamily="34" charset="0"/>
            </a:endParaRPr>
          </a:p>
          <a:p>
            <a:pPr marL="0" marR="0" rtl="0">
              <a:buNone/>
            </a:pPr>
            <a:r>
              <a:rPr lang="zh-CN" altLang="zh-CN" sz="1800" dirty="0">
                <a:effectLst/>
                <a:ea typeface="Microsoft YaHei" panose="020B0503020204020204" pitchFamily="34" charset="-122"/>
              </a:rPr>
              <a:t>确定了</a:t>
            </a:r>
            <a:r>
              <a:rPr lang="zh-CN" altLang="zh-CN" sz="1800" dirty="0">
                <a:effectLst/>
                <a:ea typeface="Calibri" panose="020F0502020204030204" pitchFamily="34" charset="0"/>
              </a:rPr>
              <a:t>SuCas12a2</a:t>
            </a:r>
            <a:r>
              <a:rPr lang="zh-CN" altLang="zh-CN" sz="1800" dirty="0">
                <a:effectLst/>
                <a:ea typeface="Microsoft YaHei" panose="020B0503020204020204" pitchFamily="34" charset="-122"/>
              </a:rPr>
              <a:t>（来自 </a:t>
            </a:r>
            <a:r>
              <a:rPr lang="zh-CN" altLang="zh-CN" sz="1800" i="1" dirty="0">
                <a:solidFill>
                  <a:schemeClr val="tx1"/>
                </a:solidFill>
                <a:effectLst/>
                <a:ea typeface="Lucida Sans" panose="020B0602030504020204" pitchFamily="34" charset="0"/>
              </a:rPr>
              <a:t>Sulfuricurvum</a:t>
            </a:r>
            <a:r>
              <a:rPr lang="zh-CN" altLang="zh-CN" sz="1800" dirty="0">
                <a:effectLst/>
                <a:ea typeface="Calibri" panose="020F0502020204030204" pitchFamily="34" charset="0"/>
              </a:rPr>
              <a:t> sp. PC08-66</a:t>
            </a:r>
            <a:r>
              <a:rPr lang="zh-CN" altLang="zh-CN" sz="1800" dirty="0">
                <a:effectLst/>
                <a:ea typeface="Microsoft YaHei" panose="020B0503020204020204" pitchFamily="34" charset="-122"/>
              </a:rPr>
              <a:t>）的</a:t>
            </a:r>
            <a:r>
              <a:rPr lang="zh-CN" altLang="zh-CN" sz="1800" dirty="0">
                <a:effectLst/>
                <a:ea typeface="Calibri" panose="020F0502020204030204" pitchFamily="34" charset="0"/>
              </a:rPr>
              <a:t> Cas12a2 </a:t>
            </a:r>
            <a:r>
              <a:rPr lang="zh-CN" altLang="zh-CN" sz="1800" dirty="0">
                <a:effectLst/>
                <a:ea typeface="Microsoft YaHei" panose="020B0503020204020204" pitchFamily="34" charset="-122"/>
              </a:rPr>
              <a:t>旁路活性的生化和结构基础</a:t>
            </a:r>
            <a:endParaRPr lang="zh-CN" altLang="zh-CN" sz="1100" dirty="0">
              <a:effectLst/>
              <a:ea typeface="Calibri" panose="020F050202020403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50A26B6-E6F4-D8F5-172D-46B805F7E930}"/>
              </a:ext>
            </a:extLst>
          </p:cNvPr>
          <p:cNvSpPr txBox="1"/>
          <p:nvPr/>
        </p:nvSpPr>
        <p:spPr>
          <a:xfrm>
            <a:off x="518160" y="2655042"/>
            <a:ext cx="10622280" cy="1685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rtl="0">
              <a:spcAft>
                <a:spcPts val="1500"/>
              </a:spcAft>
              <a:buNone/>
            </a:pPr>
            <a:r>
              <a:rPr lang="zh-CN" altLang="zh-CN" sz="1800" b="1" dirty="0"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Comparative characterization of Cas12a2 orthologs identifies high-activity nucleases for programmable cell elimination</a:t>
            </a:r>
            <a:endParaRPr lang="zh-CN" altLang="zh-CN" sz="1800" dirty="0">
              <a:solidFill>
                <a:schemeClr val="tx1"/>
              </a:solidFill>
              <a:effectLst/>
              <a:ea typeface="Calibri" panose="020F0502020204030204" pitchFamily="34" charset="0"/>
            </a:endParaRPr>
          </a:p>
          <a:p>
            <a:pPr marL="0" marR="0" rtl="0">
              <a:buNone/>
            </a:pPr>
            <a:r>
              <a:rPr lang="zh-CN" altLang="zh-CN" sz="1800" dirty="0">
                <a:effectLst/>
                <a:ea typeface="Calibri" panose="020F0502020204030204" pitchFamily="34" charset="0"/>
              </a:rPr>
              <a:t> </a:t>
            </a:r>
          </a:p>
          <a:p>
            <a:pPr marL="0" rtl="0">
              <a:buNone/>
            </a:pPr>
            <a:r>
              <a:rPr lang="zh-CN" altLang="zh-CN" sz="1800" i="1" dirty="0">
                <a:solidFill>
                  <a:schemeClr val="tx1"/>
                </a:solidFill>
                <a:effectLst/>
                <a:ea typeface="Microsoft YaHei" panose="020B0503020204020204" pitchFamily="34" charset="-122"/>
              </a:rPr>
              <a:t>来自</a:t>
            </a:r>
            <a:r>
              <a:rPr lang="zh-CN" altLang="zh-CN" sz="1800" i="1" dirty="0"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 &lt;</a:t>
            </a:r>
            <a:r>
              <a:rPr lang="zh-CN" altLang="zh-CN" sz="1800" i="1" dirty="0">
                <a:solidFill>
                  <a:schemeClr val="tx1"/>
                </a:solidFill>
                <a:effectLst/>
                <a:ea typeface="Calibri" panose="020F0502020204030204" pitchFamily="34" charset="0"/>
                <a:hlinkClick r:id="rId3"/>
              </a:rPr>
              <a:t>https://www.biorxiv.org/content/10.64898/2026.06.23.734040v2</a:t>
            </a:r>
            <a:r>
              <a:rPr lang="zh-CN" altLang="zh-CN" sz="1800" i="1" dirty="0"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&gt; </a:t>
            </a:r>
            <a:endParaRPr lang="zh-CN" altLang="zh-CN" sz="1800" dirty="0">
              <a:effectLst/>
              <a:ea typeface="Calibri" panose="020F0502020204030204" pitchFamily="34" charset="0"/>
            </a:endParaRPr>
          </a:p>
          <a:p>
            <a:pPr marL="0" marR="0" rtl="0">
              <a:buNone/>
            </a:pPr>
            <a:r>
              <a:rPr lang="zh-CN" altLang="zh-CN" sz="1800" dirty="0">
                <a:effectLst/>
                <a:ea typeface="Microsoft YaHei" panose="020B0503020204020204" pitchFamily="34" charset="-122"/>
              </a:rPr>
              <a:t>在大肠杆菌中对比了不同的</a:t>
            </a:r>
            <a:r>
              <a:rPr lang="en-US" altLang="zh-CN" sz="1800" dirty="0">
                <a:effectLst/>
                <a:ea typeface="Microsoft YaHei" panose="020B0503020204020204" pitchFamily="34" charset="-122"/>
              </a:rPr>
              <a:t>Cas12a2</a:t>
            </a:r>
            <a:r>
              <a:rPr lang="zh-CN" altLang="zh-CN" sz="1800" dirty="0">
                <a:effectLst/>
                <a:ea typeface="Microsoft YaHei" panose="020B0503020204020204" pitchFamily="34" charset="-122"/>
              </a:rPr>
              <a:t>同源物的细胞消除活性</a:t>
            </a:r>
            <a:endParaRPr lang="zh-CN" altLang="zh-CN" sz="1100" dirty="0">
              <a:effectLst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36389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1712</Words>
  <Application>Microsoft Office PowerPoint</Application>
  <PresentationFormat>宽屏</PresentationFormat>
  <Paragraphs>44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Harding</vt:lpstr>
      <vt:lpstr>等线</vt:lpstr>
      <vt:lpstr>等线 Light</vt:lpstr>
      <vt:lpstr>Microsoft YaHei</vt:lpstr>
      <vt:lpstr>Arial</vt:lpstr>
      <vt:lpstr>Calibri</vt:lpstr>
      <vt:lpstr>helvetica</vt:lpstr>
      <vt:lpstr>Lucida Sans</vt:lpstr>
      <vt:lpstr>Open Sans</vt:lpstr>
      <vt:lpstr>roboto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红峰 王</dc:creator>
  <cp:lastModifiedBy>红峰 王</cp:lastModifiedBy>
  <cp:revision>1</cp:revision>
  <dcterms:created xsi:type="dcterms:W3CDTF">2026-09-21T04:10:30Z</dcterms:created>
  <dcterms:modified xsi:type="dcterms:W3CDTF">2026-09-21T05:20:57Z</dcterms:modified>
</cp:coreProperties>
</file>